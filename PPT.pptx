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Cabin SemiBold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Cabin"/>
      <p:regular r:id="rId26"/>
      <p:bold r:id="rId27"/>
      <p:italic r:id="rId28"/>
      <p:boldItalic r:id="rId29"/>
    </p:embeddedFont>
    <p:embeddedFont>
      <p:font typeface="Roboto SemiBold"/>
      <p:regular r:id="rId30"/>
      <p:bold r:id="rId31"/>
      <p:italic r:id="rId32"/>
      <p:boldItalic r:id="rId33"/>
    </p:embeddedFont>
    <p:embeddedFont>
      <p:font typeface="Unbounde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SemiBold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CabinSemiBold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abin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Cabin-italic.fntdata"/><Relationship Id="rId27" Type="http://schemas.openxmlformats.org/officeDocument/2006/relationships/font" Target="fonts/Cabi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abin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miBold-bold.fntdata"/><Relationship Id="rId30" Type="http://schemas.openxmlformats.org/officeDocument/2006/relationships/font" Target="fonts/Roboto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Roboto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SemiBold-italic.fntdata"/><Relationship Id="rId13" Type="http://schemas.openxmlformats.org/officeDocument/2006/relationships/slide" Target="slides/slide8.xml"/><Relationship Id="rId35" Type="http://schemas.openxmlformats.org/officeDocument/2006/relationships/font" Target="fonts/Unbounded-bold.fntdata"/><Relationship Id="rId12" Type="http://schemas.openxmlformats.org/officeDocument/2006/relationships/slide" Target="slides/slide7.xml"/><Relationship Id="rId34" Type="http://schemas.openxmlformats.org/officeDocument/2006/relationships/font" Target="fonts/Unbounded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CabinSemiBold-bold.fntdata"/><Relationship Id="rId18" Type="http://schemas.openxmlformats.org/officeDocument/2006/relationships/font" Target="fonts/Cabin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b8a261a54_0_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b8a261a54_0_2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b8a261a54_0_3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b8a261a54_0_13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b8a261a54_0_1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b8a261a54_0_19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b8a261a54_0_20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b8a261a54_0_27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b8a261a54_0_28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b8a261a54_0_3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b8a261a54_0_3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b8a261a54_0_3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b8a261a54_6_0)">
  <p:cSld name="Generated (g3db8a261a54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4.jp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jp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550" y="0"/>
            <a:ext cx="533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571500" y="1524000"/>
            <a:ext cx="42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7" name="Google Shape;57;p14"/>
          <p:cNvGrpSpPr/>
          <p:nvPr/>
        </p:nvGrpSpPr>
        <p:grpSpPr>
          <a:xfrm>
            <a:off x="745587" y="1311938"/>
            <a:ext cx="4690872" cy="2985897"/>
            <a:chOff x="0" y="0"/>
            <a:chExt cx="1905000" cy="762000"/>
          </a:xfrm>
        </p:grpSpPr>
        <p:sp>
          <p:nvSpPr>
            <p:cNvPr id="58" name="Google Shape;58;p14"/>
            <p:cNvSpPr/>
            <p:nvPr/>
          </p:nvSpPr>
          <p:spPr>
            <a:xfrm>
              <a:off x="0" y="0"/>
              <a:ext cx="1905000" cy="762000"/>
            </a:xfrm>
            <a:prstGeom prst="roundRect">
              <a:avLst>
                <a:gd fmla="val 12500" name="adj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58"/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142875" y="95250"/>
              <a:ext cx="1619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25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CURSO: </a:t>
              </a:r>
              <a:r>
                <a:rPr lang="es" sz="1525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Desarrollo</a:t>
              </a:r>
              <a:r>
                <a:rPr lang="es" sz="1525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 de aplicaciones móviles II</a:t>
              </a:r>
              <a:endParaRPr sz="1525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25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25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DOCENTE: Yovani Quinteros</a:t>
              </a:r>
              <a:endParaRPr sz="1525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25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25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COORDINADOR: Onocuica Maza, Piero</a:t>
              </a:r>
              <a:endParaRPr sz="1525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25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25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INTEGRANTES:</a:t>
              </a:r>
              <a:endParaRPr sz="1525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25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Callata Mamani, Raquel</a:t>
              </a:r>
              <a:endParaRPr sz="1525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25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Perez Vasquez, Xiomara</a:t>
              </a:r>
              <a:endParaRPr sz="1525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25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Urbano Flores, Jean</a:t>
              </a:r>
              <a:endParaRPr sz="1525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5715000" y="285750"/>
            <a:ext cx="8096250" cy="4953000"/>
            <a:chOff x="0" y="0"/>
            <a:chExt cx="8096250" cy="49530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2476500" cy="4762500"/>
            </a:xfrm>
            <a:prstGeom prst="roundRect">
              <a:avLst>
                <a:gd fmla="val 19230" name="adj"/>
              </a:avLst>
            </a:prstGeom>
            <a:solidFill>
              <a:srgbClr val="1A1A1A"/>
            </a:solidFill>
            <a:ln cap="flat" cmpd="sng" w="3810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leek iOS mobile application interface for a task management app, using Cibertec blue accent colors, featuring a clean dashboard with task lists, progress rings, and a modern Apple-style aesthetic." id="62" name="Google Shape;62;p14"/>
            <p:cNvPicPr preferRelativeResize="0"/>
            <p:nvPr/>
          </p:nvPicPr>
          <p:blipFill rotWithShape="1">
            <a:blip r:embed="rId5">
              <a:alphaModFix/>
            </a:blip>
            <a:srcRect b="0" l="25000" r="25000" t="0"/>
            <a:stretch/>
          </p:blipFill>
          <p:spPr>
            <a:xfrm>
              <a:off x="5810250" y="381000"/>
              <a:ext cx="2286000" cy="4572000"/>
            </a:xfrm>
            <a:prstGeom prst="roundRect">
              <a:avLst>
                <a:gd fmla="val 16666" name="adj"/>
              </a:avLst>
            </a:prstGeom>
            <a:noFill/>
            <a:ln>
              <a:noFill/>
            </a:ln>
          </p:spPr>
        </p:pic>
      </p:grpSp>
      <p:sp>
        <p:nvSpPr>
          <p:cNvPr id="63" name="Google Shape;63;p14"/>
          <p:cNvSpPr/>
          <p:nvPr/>
        </p:nvSpPr>
        <p:spPr>
          <a:xfrm>
            <a:off x="571500" y="47625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1444100" y="45331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© 2026 Cibertec | </a:t>
            </a:r>
            <a:r>
              <a:rPr lang="es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Mis Tareas</a:t>
            </a:r>
            <a:endParaRPr b="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018050" y="1076625"/>
            <a:ext cx="256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Mis Tareas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Dibujo con letras blancas&#10;&#10;El contenido generado por IA puede ser incorrecto." id="66" name="Google Shape;6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1945" y="368391"/>
            <a:ext cx="3245364" cy="70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7">
            <a:alphaModFix/>
          </a:blip>
          <a:srcRect b="16498" l="15384" r="15384" t="16491"/>
          <a:stretch/>
        </p:blipFill>
        <p:spPr>
          <a:xfrm>
            <a:off x="6155375" y="1973125"/>
            <a:ext cx="1544700" cy="1495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0" y="0"/>
            <a:ext cx="533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1034875" y="1471353"/>
            <a:ext cx="42864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Los estudiantes de Cibertec en ciclos avanzados deben gestionar varios cursos, proyectos grupales, exposiciones y entregas simultáneas. </a:t>
            </a:r>
            <a:endParaRPr>
              <a:solidFill>
                <a:srgbClr val="E0E0E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0E0E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0E0E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571500" y="47625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bujo con letras blancas&#10;&#10;El contenido generado por IA puede ser incorrecto." id="75" name="Google Shape;7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1470" y="5440828"/>
            <a:ext cx="3245364" cy="70822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1897975" y="780550"/>
            <a:ext cx="256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Problemática</a:t>
            </a:r>
            <a:endParaRPr b="1" sz="28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descr="Dibujo con letras blancas&#10;&#10;El contenido generado por IA puede ser incorrecto." id="77" name="Google Shape;7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775" y="0"/>
            <a:ext cx="1991226" cy="4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1143000" y="463612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© 2026 Cibertec | </a:t>
            </a:r>
            <a:r>
              <a:rPr lang="es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Mis Tareas</a:t>
            </a:r>
            <a:endParaRPr b="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15"/>
          <p:cNvGrpSpPr/>
          <p:nvPr/>
        </p:nvGrpSpPr>
        <p:grpSpPr>
          <a:xfrm>
            <a:off x="1568450" y="3085963"/>
            <a:ext cx="3065907" cy="799643"/>
            <a:chOff x="0" y="0"/>
            <a:chExt cx="1905000" cy="762000"/>
          </a:xfrm>
        </p:grpSpPr>
        <p:sp>
          <p:nvSpPr>
            <p:cNvPr id="81" name="Google Shape;81;p15"/>
            <p:cNvSpPr/>
            <p:nvPr/>
          </p:nvSpPr>
          <p:spPr>
            <a:xfrm>
              <a:off x="0" y="0"/>
              <a:ext cx="1905000" cy="762000"/>
            </a:xfrm>
            <a:prstGeom prst="roundRect">
              <a:avLst>
                <a:gd fmla="val 12500" name="adj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86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142875" y="95250"/>
              <a:ext cx="1619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993">
                  <a:solidFill>
                    <a:srgbClr val="FFFFFF"/>
                  </a:solidFill>
                  <a:latin typeface="Cabin SemiBold"/>
                  <a:ea typeface="Cabin SemiBold"/>
                  <a:cs typeface="Cabin SemiBold"/>
                  <a:sym typeface="Cabin SemiBold"/>
                </a:rPr>
                <a:t>Baja productividad y olvidos frecuentes</a:t>
              </a:r>
              <a:endParaRPr sz="1993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571500" y="47625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bujo con letras blancas&#10;&#10;El contenido generado por IA puede ser incorrecto." id="88" name="Google Shape;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775" y="0"/>
            <a:ext cx="1991226" cy="4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2985750" y="219950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15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Objetivos</a:t>
            </a:r>
            <a:endParaRPr sz="3150">
              <a:solidFill>
                <a:schemeClr val="dk1"/>
              </a:solidFill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663225" y="1005888"/>
            <a:ext cx="8340900" cy="13752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5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Objetivo General</a:t>
            </a:r>
            <a:r>
              <a:rPr lang="es" sz="155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:</a:t>
            </a:r>
            <a:endParaRPr sz="155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Desarrollar una aplicación móvil iOS denominada “Mis Tareas”, que permita a estudiantes de Cibertec organizar y gestionar sus actividades académicas mediante registro, seguimiento y control de tareas, logrando mejorar su organización personal durante el ciclo académico 2026.</a:t>
            </a:r>
            <a:endParaRPr sz="150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928345" y="3413447"/>
            <a:ext cx="39753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Unbounded"/>
              <a:buNone/>
            </a:pPr>
            <a:r>
              <a:t/>
            </a:r>
            <a:endParaRPr b="0" i="0" sz="1550" u="none" cap="none" strike="noStrike">
              <a:solidFill>
                <a:srgbClr val="00FFFF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63225" y="2620450"/>
            <a:ext cx="8340900" cy="2324400"/>
          </a:xfrm>
          <a:prstGeom prst="rect">
            <a:avLst/>
          </a:prstGeom>
          <a:solidFill>
            <a:srgbClr val="1A588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Objetivos </a:t>
            </a:r>
            <a:r>
              <a:rPr lang="es" sz="155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Específicos:</a:t>
            </a:r>
            <a:endParaRPr sz="155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23850" lvl="0" marL="45720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bin"/>
              <a:buChar char="●"/>
            </a:pPr>
            <a:r>
              <a:rPr lang="es" sz="1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Implementar un sistema de registro e inicio de sesión para que el usuario pueda acceder a su información personal de tareas.</a:t>
            </a:r>
            <a:endParaRPr sz="15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23850" lvl="0" marL="45720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bin"/>
              <a:buChar char="●"/>
            </a:pPr>
            <a:r>
              <a:rPr lang="es" sz="1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Desarrollar un módulo de gestión de tareas que permita crear, visualizar, editar y eliminar actividades académicas.</a:t>
            </a:r>
            <a:endParaRPr sz="15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23850" lvl="0" marL="45720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bin"/>
              <a:buChar char="●"/>
            </a:pPr>
            <a:r>
              <a:rPr lang="es" sz="1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Diseñar una interfaz intuitiva y amigable que permita al usuario gestionar sus tareas en menos de tres interacciones.</a:t>
            </a:r>
            <a:endParaRPr sz="150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0" y="0"/>
            <a:ext cx="533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1034875" y="1793195"/>
            <a:ext cx="42864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Aplicación iOS para estudiantes de Cibertec que gestionan múltiples cursos, proyectos y entregas semanales. </a:t>
            </a:r>
            <a:endParaRPr sz="18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0E0E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0E0E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0E0E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99" name="Google Shape;99;p17"/>
          <p:cNvGrpSpPr/>
          <p:nvPr/>
        </p:nvGrpSpPr>
        <p:grpSpPr>
          <a:xfrm>
            <a:off x="952500" y="2874675"/>
            <a:ext cx="4368737" cy="1043483"/>
            <a:chOff x="0" y="0"/>
            <a:chExt cx="1905000" cy="762000"/>
          </a:xfrm>
        </p:grpSpPr>
        <p:sp>
          <p:nvSpPr>
            <p:cNvPr id="100" name="Google Shape;100;p17"/>
            <p:cNvSpPr/>
            <p:nvPr/>
          </p:nvSpPr>
          <p:spPr>
            <a:xfrm>
              <a:off x="0" y="0"/>
              <a:ext cx="1905000" cy="762000"/>
            </a:xfrm>
            <a:prstGeom prst="roundRect">
              <a:avLst>
                <a:gd fmla="val 12500" name="adj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01" name="Google Shape;101;p17"/>
            <p:cNvSpPr txBox="1"/>
            <p:nvPr/>
          </p:nvSpPr>
          <p:spPr>
            <a:xfrm>
              <a:off x="142875" y="95250"/>
              <a:ext cx="1619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600">
                  <a:solidFill>
                    <a:srgbClr val="FFFFFF"/>
                  </a:solidFill>
                  <a:latin typeface="Cabin SemiBold"/>
                  <a:ea typeface="Cabin SemiBold"/>
                  <a:cs typeface="Cabin SemiBold"/>
                  <a:sym typeface="Cabin SemiBold"/>
                </a:rPr>
                <a:t>Interfaz Intuitiva</a:t>
              </a:r>
              <a:r>
                <a:rPr lang="es" sz="2600">
                  <a:solidFill>
                    <a:srgbClr val="FFFFFF"/>
                  </a:solidFill>
                  <a:latin typeface="Cabin SemiBold"/>
                  <a:ea typeface="Cabin SemiBold"/>
                  <a:cs typeface="Cabin SemiBold"/>
                  <a:sym typeface="Cabin SemiBold"/>
                </a:rPr>
                <a:t>: Simple y funcional</a:t>
              </a:r>
              <a:endParaRPr sz="2600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endParaRPr>
            </a:p>
          </p:txBody>
        </p:sp>
      </p:grpSp>
      <p:sp>
        <p:nvSpPr>
          <p:cNvPr id="102" name="Google Shape;102;p17"/>
          <p:cNvSpPr/>
          <p:nvPr/>
        </p:nvSpPr>
        <p:spPr>
          <a:xfrm>
            <a:off x="571500" y="47625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bujo con letras blancas&#10;&#10;El contenido generado por IA puede ser incorrecto." id="103" name="Google Shape;10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1470" y="5440828"/>
            <a:ext cx="3245364" cy="70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1897975" y="703300"/>
            <a:ext cx="256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Solución</a:t>
            </a:r>
            <a:endParaRPr b="1" sz="280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descr="Dibujo con letras blancas&#10;&#10;El contenido generado por IA puede ser incorrecto." id="106" name="Google Shape;10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775" y="0"/>
            <a:ext cx="1991226" cy="4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1143000" y="463612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© 2026 Cibertec | </a:t>
            </a:r>
            <a:r>
              <a:rPr lang="es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Mis Tareas</a:t>
            </a:r>
            <a:endParaRPr b="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 title="WhatsApp Image 2026-05-01 at 10.52.52 AM.jpeg"/>
          <p:cNvPicPr preferRelativeResize="0"/>
          <p:nvPr/>
        </p:nvPicPr>
        <p:blipFill rotWithShape="1">
          <a:blip r:embed="rId4">
            <a:alphaModFix/>
          </a:blip>
          <a:srcRect b="0" l="-2497" r="975" t="-11012"/>
          <a:stretch/>
        </p:blipFill>
        <p:spPr>
          <a:xfrm>
            <a:off x="1197050" y="331550"/>
            <a:ext cx="6326700" cy="461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571500" y="47625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bujo con letras blancas&#10;&#10;El contenido generado por IA puede ser incorrecto." id="114" name="Google Shape;11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775" y="0"/>
            <a:ext cx="1991226" cy="4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3352475" y="72575"/>
            <a:ext cx="256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Wireframe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571500" y="47625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bujo con letras blancas&#10;&#10;El contenido generado por IA puede ser incorrecto." id="121" name="Google Shape;12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775" y="0"/>
            <a:ext cx="1991226" cy="4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2973350" y="617700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15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Mis Tareas</a:t>
            </a:r>
            <a:endParaRPr sz="3150">
              <a:solidFill>
                <a:schemeClr val="dk1"/>
              </a:solidFill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401550" y="1499838"/>
            <a:ext cx="8340900" cy="40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2425" lvl="0" marL="45720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bin"/>
              <a:buChar char="●"/>
            </a:pPr>
            <a:r>
              <a:rPr lang="es" sz="195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Es una aplicación móvil para iOS que centraliza todas las responsabilidades académicas del estudiante en un solo lugar. </a:t>
            </a:r>
            <a:endParaRPr sz="195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52425" lvl="0" marL="45720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bin"/>
              <a:buChar char="●"/>
            </a:pPr>
            <a:r>
              <a:rPr lang="es" sz="195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Su flujo es simple e intuitivo: desde el registro hasta el seguimiento de cada entrega.</a:t>
            </a:r>
            <a:endParaRPr sz="195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52425" lvl="0" marL="45720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bin"/>
              <a:buChar char="●"/>
            </a:pPr>
            <a:r>
              <a:rPr lang="es" sz="195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Cumple con los requisitos técnicos del curso: es una aplicación funcional en iOS que integra persistencia local con Core Data y consumo de servicios REST para sincronizar datos.</a:t>
            </a:r>
            <a:endParaRPr sz="195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Cabin"/>
              <a:buNone/>
            </a:pPr>
            <a:r>
              <a:t/>
            </a:r>
            <a:endParaRPr sz="195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5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1928345" y="3413447"/>
            <a:ext cx="39753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Unbounded"/>
              <a:buNone/>
            </a:pPr>
            <a:r>
              <a:t/>
            </a:r>
            <a:endParaRPr b="0" i="0" sz="1550" u="none" cap="none" strike="noStrike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571500" y="47625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bujo con letras blancas&#10;&#10;El contenido generado por IA puede ser incorrecto." id="130" name="Google Shape;13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775" y="0"/>
            <a:ext cx="1991226" cy="4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2485400" y="617700"/>
            <a:ext cx="4839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15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Funcionalidades</a:t>
            </a:r>
            <a:endParaRPr sz="3150">
              <a:solidFill>
                <a:schemeClr val="dk1"/>
              </a:solidFill>
            </a:endParaRPr>
          </a:p>
        </p:txBody>
      </p:sp>
      <p:grpSp>
        <p:nvGrpSpPr>
          <p:cNvPr id="132" name="Google Shape;132;p20"/>
          <p:cNvGrpSpPr/>
          <p:nvPr/>
        </p:nvGrpSpPr>
        <p:grpSpPr>
          <a:xfrm>
            <a:off x="312575" y="1688775"/>
            <a:ext cx="2172843" cy="799643"/>
            <a:chOff x="0" y="0"/>
            <a:chExt cx="1905000" cy="762000"/>
          </a:xfrm>
        </p:grpSpPr>
        <p:sp>
          <p:nvSpPr>
            <p:cNvPr id="133" name="Google Shape;133;p20"/>
            <p:cNvSpPr/>
            <p:nvPr/>
          </p:nvSpPr>
          <p:spPr>
            <a:xfrm>
              <a:off x="0" y="0"/>
              <a:ext cx="1905000" cy="762000"/>
            </a:xfrm>
            <a:prstGeom prst="roundRect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86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34" name="Google Shape;134;p20"/>
            <p:cNvSpPr txBox="1"/>
            <p:nvPr/>
          </p:nvSpPr>
          <p:spPr>
            <a:xfrm>
              <a:off x="451121" y="95245"/>
              <a:ext cx="139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0D4C7E"/>
                  </a:solidFill>
                  <a:latin typeface="Cabin SemiBold"/>
                  <a:ea typeface="Cabin SemiBold"/>
                  <a:cs typeface="Cabin SemiBold"/>
                  <a:sym typeface="Cabin SemiBold"/>
                </a:rPr>
                <a:t>Cuenta </a:t>
              </a:r>
              <a:endParaRPr sz="1800">
                <a:solidFill>
                  <a:srgbClr val="0D4C7E"/>
                </a:solidFill>
                <a:latin typeface="Cabin SemiBold"/>
                <a:ea typeface="Cabin SemiBold"/>
                <a:cs typeface="Cabin SemiBold"/>
                <a:sym typeface="Cabin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0D4C7E"/>
                  </a:solidFill>
                  <a:latin typeface="Cabin SemiBold"/>
                  <a:ea typeface="Cabin SemiBold"/>
                  <a:cs typeface="Cabin SemiBold"/>
                  <a:sym typeface="Cabin SemiBold"/>
                </a:rPr>
                <a:t>personal</a:t>
              </a:r>
              <a:endParaRPr sz="1800">
                <a:solidFill>
                  <a:srgbClr val="0D4C7E"/>
                </a:solidFill>
                <a:latin typeface="Cabin SemiBold"/>
                <a:ea typeface="Cabin SemiBold"/>
                <a:cs typeface="Cabin SemiBold"/>
                <a:sym typeface="Cabin SemiBold"/>
              </a:endParaRPr>
            </a:p>
          </p:txBody>
        </p:sp>
      </p:grpSp>
      <p:sp>
        <p:nvSpPr>
          <p:cNvPr id="135" name="Google Shape;135;p20"/>
          <p:cNvSpPr txBox="1"/>
          <p:nvPr/>
        </p:nvSpPr>
        <p:spPr>
          <a:xfrm>
            <a:off x="371450" y="2636575"/>
            <a:ext cx="2114100" cy="16290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Registro e inicio de sesión para acceder a sus tareas desde cualquier dispositivo.</a:t>
            </a:r>
            <a:endParaRPr sz="1600">
              <a:solidFill>
                <a:schemeClr val="dk1"/>
              </a:solidFill>
            </a:endParaRPr>
          </a:p>
        </p:txBody>
      </p:sp>
      <p:grpSp>
        <p:nvGrpSpPr>
          <p:cNvPr id="136" name="Google Shape;136;p20"/>
          <p:cNvGrpSpPr/>
          <p:nvPr/>
        </p:nvGrpSpPr>
        <p:grpSpPr>
          <a:xfrm>
            <a:off x="2710075" y="1688775"/>
            <a:ext cx="1930156" cy="799643"/>
            <a:chOff x="0" y="0"/>
            <a:chExt cx="1905010" cy="762000"/>
          </a:xfrm>
        </p:grpSpPr>
        <p:sp>
          <p:nvSpPr>
            <p:cNvPr id="137" name="Google Shape;137;p20"/>
            <p:cNvSpPr/>
            <p:nvPr/>
          </p:nvSpPr>
          <p:spPr>
            <a:xfrm>
              <a:off x="0" y="0"/>
              <a:ext cx="1905000" cy="762000"/>
            </a:xfrm>
            <a:prstGeom prst="roundRect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86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38" name="Google Shape;138;p20"/>
            <p:cNvSpPr txBox="1"/>
            <p:nvPr/>
          </p:nvSpPr>
          <p:spPr>
            <a:xfrm>
              <a:off x="503110" y="95245"/>
              <a:ext cx="1401900" cy="57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004C86"/>
                  </a:solidFill>
                  <a:latin typeface="Cabin SemiBold"/>
                  <a:ea typeface="Cabin SemiBold"/>
                  <a:cs typeface="Cabin SemiBold"/>
                  <a:sym typeface="Cabin SemiBold"/>
                </a:rPr>
                <a:t>Gestión de tareas</a:t>
              </a:r>
              <a:endParaRPr sz="1800">
                <a:solidFill>
                  <a:srgbClr val="004C86"/>
                </a:solidFill>
                <a:latin typeface="Cabin SemiBold"/>
                <a:ea typeface="Cabin SemiBold"/>
                <a:cs typeface="Cabin SemiBold"/>
                <a:sym typeface="Cabin SemiBold"/>
              </a:endParaRPr>
            </a:p>
          </p:txBody>
        </p:sp>
      </p:grpSp>
      <p:sp>
        <p:nvSpPr>
          <p:cNvPr id="139" name="Google Shape;139;p20"/>
          <p:cNvSpPr txBox="1"/>
          <p:nvPr/>
        </p:nvSpPr>
        <p:spPr>
          <a:xfrm>
            <a:off x="2749800" y="2636575"/>
            <a:ext cx="1930200" cy="16290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Crear, visualizar y eliminar tareas académicas con un gesto de swipe.</a:t>
            </a:r>
            <a:endParaRPr sz="16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140" name="Google Shape;140;p20"/>
          <p:cNvGrpSpPr/>
          <p:nvPr/>
        </p:nvGrpSpPr>
        <p:grpSpPr>
          <a:xfrm>
            <a:off x="4864863" y="1688775"/>
            <a:ext cx="1930146" cy="799643"/>
            <a:chOff x="0" y="0"/>
            <a:chExt cx="1905000" cy="762000"/>
          </a:xfrm>
        </p:grpSpPr>
        <p:sp>
          <p:nvSpPr>
            <p:cNvPr id="141" name="Google Shape;141;p20"/>
            <p:cNvSpPr/>
            <p:nvPr/>
          </p:nvSpPr>
          <p:spPr>
            <a:xfrm>
              <a:off x="0" y="0"/>
              <a:ext cx="1905000" cy="762000"/>
            </a:xfrm>
            <a:prstGeom prst="roundRect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86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42" name="Google Shape;142;p20"/>
            <p:cNvSpPr txBox="1"/>
            <p:nvPr/>
          </p:nvSpPr>
          <p:spPr>
            <a:xfrm>
              <a:off x="423437" y="95245"/>
              <a:ext cx="133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0D4A7C"/>
                  </a:solidFill>
                  <a:latin typeface="Cabin SemiBold"/>
                  <a:ea typeface="Cabin SemiBold"/>
                  <a:cs typeface="Cabin SemiBold"/>
                  <a:sym typeface="Cabin SemiBold"/>
                </a:rPr>
                <a:t>Marcas</a:t>
              </a:r>
              <a:endParaRPr sz="1800">
                <a:solidFill>
                  <a:srgbClr val="0D4A7C"/>
                </a:solidFill>
                <a:latin typeface="Cabin SemiBold"/>
                <a:ea typeface="Cabin SemiBold"/>
                <a:cs typeface="Cabin SemiBold"/>
                <a:sym typeface="Cabin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0D4A7C"/>
                  </a:solidFill>
                  <a:latin typeface="Cabin SemiBold"/>
                  <a:ea typeface="Cabin SemiBold"/>
                  <a:cs typeface="Cabin SemiBold"/>
                  <a:sym typeface="Cabin SemiBold"/>
                </a:rPr>
                <a:t>completadas</a:t>
              </a:r>
              <a:endParaRPr sz="1800">
                <a:solidFill>
                  <a:srgbClr val="0D4A7C"/>
                </a:solidFill>
                <a:latin typeface="Cabin SemiBold"/>
                <a:ea typeface="Cabin SemiBold"/>
                <a:cs typeface="Cabin SemiBold"/>
                <a:sym typeface="Cabin SemiBold"/>
              </a:endParaRPr>
            </a:p>
          </p:txBody>
        </p:sp>
      </p:grpSp>
      <p:sp>
        <p:nvSpPr>
          <p:cNvPr id="143" name="Google Shape;143;p20"/>
          <p:cNvSpPr txBox="1"/>
          <p:nvPr/>
        </p:nvSpPr>
        <p:spPr>
          <a:xfrm>
            <a:off x="4904399" y="2636575"/>
            <a:ext cx="1930200" cy="16290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Seguimiento visual del progreso de cada actividad académica.</a:t>
            </a:r>
            <a:endParaRPr sz="16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144" name="Google Shape;144;p20"/>
          <p:cNvGrpSpPr/>
          <p:nvPr/>
        </p:nvGrpSpPr>
        <p:grpSpPr>
          <a:xfrm>
            <a:off x="7019650" y="1688775"/>
            <a:ext cx="1930146" cy="799643"/>
            <a:chOff x="0" y="0"/>
            <a:chExt cx="1905000" cy="762000"/>
          </a:xfrm>
        </p:grpSpPr>
        <p:sp>
          <p:nvSpPr>
            <p:cNvPr id="145" name="Google Shape;145;p20"/>
            <p:cNvSpPr/>
            <p:nvPr/>
          </p:nvSpPr>
          <p:spPr>
            <a:xfrm>
              <a:off x="0" y="0"/>
              <a:ext cx="1905000" cy="762000"/>
            </a:xfrm>
            <a:prstGeom prst="roundRect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86"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46" name="Google Shape;146;p20"/>
            <p:cNvSpPr txBox="1"/>
            <p:nvPr/>
          </p:nvSpPr>
          <p:spPr>
            <a:xfrm>
              <a:off x="142875" y="95250"/>
              <a:ext cx="1619100" cy="57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993">
                  <a:solidFill>
                    <a:srgbClr val="0D4A7C"/>
                  </a:solidFill>
                  <a:latin typeface="Cabin SemiBold"/>
                  <a:ea typeface="Cabin SemiBold"/>
                  <a:cs typeface="Cabin SemiBold"/>
                  <a:sym typeface="Cabin SemiBold"/>
                </a:rPr>
                <a:t>      Alertas</a:t>
              </a:r>
              <a:endParaRPr sz="1993">
                <a:solidFill>
                  <a:srgbClr val="0D4A7C"/>
                </a:solidFill>
                <a:latin typeface="Cabin SemiBold"/>
                <a:ea typeface="Cabin SemiBold"/>
                <a:cs typeface="Cabin SemiBold"/>
                <a:sym typeface="Cabin SemiBold"/>
              </a:endParaRPr>
            </a:p>
          </p:txBody>
        </p:sp>
      </p:grpSp>
      <p:sp>
        <p:nvSpPr>
          <p:cNvPr id="147" name="Google Shape;147;p20"/>
          <p:cNvSpPr txBox="1"/>
          <p:nvPr/>
        </p:nvSpPr>
        <p:spPr>
          <a:xfrm>
            <a:off x="7058999" y="2636575"/>
            <a:ext cx="1930200" cy="16290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Notificaciones push para no olvidar fechas críticas de entrega.</a:t>
            </a:r>
            <a:endParaRPr sz="1600">
              <a:solidFill>
                <a:srgbClr val="CAD6DE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113" y="1818711"/>
            <a:ext cx="539775" cy="53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7950" y="1871313"/>
            <a:ext cx="429023" cy="43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65675" y="1874075"/>
            <a:ext cx="429025" cy="4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25000" y="1916550"/>
            <a:ext cx="339725" cy="344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>
            <a:off x="571500" y="47625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bujo con letras blancas&#10;&#10;El contenido generado por IA puede ser incorrecto." id="157" name="Google Shape;1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775" y="0"/>
            <a:ext cx="1991226" cy="4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2500200" y="617700"/>
            <a:ext cx="4143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15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Flujo de usuario</a:t>
            </a:r>
            <a:endParaRPr sz="3150">
              <a:solidFill>
                <a:schemeClr val="dk1"/>
              </a:solidFill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1928345" y="3413447"/>
            <a:ext cx="39753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Unbounded"/>
              <a:buNone/>
            </a:pPr>
            <a:r>
              <a:t/>
            </a:r>
            <a:endParaRPr b="0" i="0" sz="1550" u="none" cap="none" strike="noStrike">
              <a:solidFill>
                <a:srgbClr val="00FFFF"/>
              </a:solidFill>
            </a:endParaRPr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550" y="1439700"/>
            <a:ext cx="6694374" cy="30652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1122325" y="4087450"/>
            <a:ext cx="6422400" cy="646500"/>
          </a:xfrm>
          <a:prstGeom prst="rect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El diseño prioriza la simplicidad: El estudiante accede a su información en menos de tres toques, sin fricciones ni pantallas innecesarias.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1263875" y="3309050"/>
            <a:ext cx="729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CAD6DE"/>
                </a:solidFill>
              </a:rPr>
              <a:t>Pantalla              Registro               Lista             </a:t>
            </a:r>
            <a:r>
              <a:rPr lang="es" sz="1800">
                <a:solidFill>
                  <a:srgbClr val="CAD6DE"/>
                </a:solidFill>
              </a:rPr>
              <a:t>Gestionar</a:t>
            </a:r>
            <a:endParaRPr sz="1800">
              <a:solidFill>
                <a:srgbClr val="CAD6D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571500" y="47625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bujo con letras blancas&#10;&#10;El contenido generado por IA puede ser incorrecto." id="168" name="Google Shape;1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775" y="0"/>
            <a:ext cx="1991226" cy="4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2500200" y="617700"/>
            <a:ext cx="4143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0">
              <a:solidFill>
                <a:schemeClr val="dk1"/>
              </a:solidFill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3739145" y="3120372"/>
            <a:ext cx="39753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Unbounded"/>
              <a:buNone/>
            </a:pPr>
            <a:r>
              <a:t/>
            </a:r>
            <a:endParaRPr b="0" i="0" sz="1550" u="none" cap="none" strike="noStrike">
              <a:solidFill>
                <a:srgbClr val="00FFFF"/>
              </a:solidFill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2709525" y="366475"/>
            <a:ext cx="4143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15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Beneficiarios</a:t>
            </a:r>
            <a:endParaRPr sz="3150">
              <a:solidFill>
                <a:schemeClr val="dk1"/>
              </a:solidFill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1366150" y="1173200"/>
            <a:ext cx="6552300" cy="161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 txBox="1"/>
          <p:nvPr/>
        </p:nvSpPr>
        <p:spPr>
          <a:xfrm>
            <a:off x="1496950" y="1332663"/>
            <a:ext cx="6290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Beneficiarios Directos:  </a:t>
            </a:r>
            <a:r>
              <a:rPr lang="es" sz="1800">
                <a:solidFill>
                  <a:schemeClr val="dk1"/>
                </a:solidFill>
              </a:rPr>
              <a:t>Estudiantes de Cibertec, especialmente de sexto ciclo, que deben coordinar múltiples cursos, proyectos, avances y exposiciones de forma simultánea.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1423675" y="3120375"/>
            <a:ext cx="6552300" cy="161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1517875" y="3256875"/>
            <a:ext cx="6290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Beneficiarios Indirectos:  </a:t>
            </a:r>
            <a:r>
              <a:rPr lang="es" sz="1800">
                <a:solidFill>
                  <a:schemeClr val="dk1"/>
                </a:solidFill>
              </a:rPr>
              <a:t>Docentes y equipos de trabajo, ya que los estudiantes organizados cumplen sus entregas a tiempo, reduciendo retrabajos y mejorando la calidad académica general.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571500" y="47625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bujo con letras blancas&#10;&#10;El contenido generado por IA puede ser incorrecto." id="181" name="Google Shape;1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775" y="0"/>
            <a:ext cx="1991226" cy="4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 txBox="1"/>
          <p:nvPr/>
        </p:nvSpPr>
        <p:spPr>
          <a:xfrm>
            <a:off x="2500200" y="617700"/>
            <a:ext cx="4143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0">
              <a:solidFill>
                <a:schemeClr val="dk1"/>
              </a:solidFill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1928345" y="3413447"/>
            <a:ext cx="39753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Unbounded"/>
              <a:buNone/>
            </a:pPr>
            <a:r>
              <a:t/>
            </a:r>
            <a:endParaRPr b="0" i="0" sz="1550" u="none" cap="none" strike="noStrike">
              <a:solidFill>
                <a:srgbClr val="00FFFF"/>
              </a:solidFill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2669100" y="345550"/>
            <a:ext cx="48567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15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Conclusiones</a:t>
            </a:r>
            <a:endParaRPr sz="3150">
              <a:solidFill>
                <a:schemeClr val="dk1"/>
              </a:solidFill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498225" y="1265113"/>
            <a:ext cx="8340900" cy="10485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El desarrollo de la aplicación “Mis Tareas” permitió demostrar que es posible mejorar la organización académica de los estudiantes mediante herramientas móviles simples, funcionales y adaptadas a su contexto.</a:t>
            </a:r>
            <a:endParaRPr sz="150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498225" y="2657800"/>
            <a:ext cx="8340900" cy="732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Se logró implementar la mayoría de funcionalidades planteadas (70%), incluyendo registro de usuario, gestión de tareas y estados de seguimiento, cumpliendo con los requisitos técnicos del curso.</a:t>
            </a:r>
            <a:endParaRPr sz="150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498225" y="3666338"/>
            <a:ext cx="8340900" cy="732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El uso de tecnologías como Swift, Core Data y servicios REST permitió desarrollar una solución escalable y alineada a estándares de desarrollo móvil en iOS.</a:t>
            </a:r>
            <a:endParaRPr sz="150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2961825" y="47661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© 2026 Cibertec | </a:t>
            </a:r>
            <a:r>
              <a:rPr lang="es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Mis Tareas</a:t>
            </a:r>
            <a:endParaRPr b="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"/>
          <p:cNvSpPr/>
          <p:nvPr/>
        </p:nvSpPr>
        <p:spPr>
          <a:xfrm>
            <a:off x="571500" y="47625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bujo con letras blancas&#10;&#10;El contenido generado por IA puede ser incorrecto." id="194" name="Google Shape;19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775" y="0"/>
            <a:ext cx="1991226" cy="4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4"/>
          <p:cNvSpPr txBox="1"/>
          <p:nvPr/>
        </p:nvSpPr>
        <p:spPr>
          <a:xfrm>
            <a:off x="2500200" y="617700"/>
            <a:ext cx="4143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0">
              <a:solidFill>
                <a:schemeClr val="dk1"/>
              </a:solidFill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1928345" y="3413447"/>
            <a:ext cx="39753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Unbounded"/>
              <a:buNone/>
            </a:pPr>
            <a:r>
              <a:t/>
            </a:r>
            <a:endParaRPr b="0" i="0" sz="1550" u="none" cap="none" strike="noStrike">
              <a:solidFill>
                <a:srgbClr val="00FFFF"/>
              </a:solidFill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2585350" y="379250"/>
            <a:ext cx="48567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15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Recomendaciones</a:t>
            </a:r>
            <a:endParaRPr sz="3150">
              <a:solidFill>
                <a:schemeClr val="dk1"/>
              </a:solidFill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98225" y="1349038"/>
            <a:ext cx="8340900" cy="732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Implementar notificaciones push en tiempo real para alertar al usuario sobre fechas próximas de entrega.</a:t>
            </a:r>
            <a:endParaRPr sz="150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498225" y="2381250"/>
            <a:ext cx="8340900" cy="732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Integrar la aplicación con plataformas académicas (como Canvas o Google Calendar) para centralizar aún más la gestión de actividades.</a:t>
            </a:r>
            <a:endParaRPr sz="150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498225" y="3413438"/>
            <a:ext cx="8340900" cy="732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Mejorar la experiencia de usuario incorporando recordatorios inteligentes y estadísticas de productividad académica.</a:t>
            </a:r>
            <a:endParaRPr sz="150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2930450" y="46901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© 2026 Cibertec | </a:t>
            </a:r>
            <a:r>
              <a:rPr lang="es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Mis Tareas</a:t>
            </a:r>
            <a:endParaRPr b="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550" y="0"/>
            <a:ext cx="533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5"/>
          <p:cNvSpPr/>
          <p:nvPr/>
        </p:nvSpPr>
        <p:spPr>
          <a:xfrm>
            <a:off x="6667500" y="-47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5"/>
          <p:cNvSpPr txBox="1"/>
          <p:nvPr/>
        </p:nvSpPr>
        <p:spPr>
          <a:xfrm>
            <a:off x="571500" y="1524000"/>
            <a:ext cx="42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8" name="Google Shape;208;p25"/>
          <p:cNvGrpSpPr/>
          <p:nvPr/>
        </p:nvGrpSpPr>
        <p:grpSpPr>
          <a:xfrm>
            <a:off x="1452263" y="1648500"/>
            <a:ext cx="2524887" cy="851230"/>
            <a:chOff x="0" y="0"/>
            <a:chExt cx="1905000" cy="762000"/>
          </a:xfrm>
        </p:grpSpPr>
        <p:sp>
          <p:nvSpPr>
            <p:cNvPr id="209" name="Google Shape;209;p25"/>
            <p:cNvSpPr/>
            <p:nvPr/>
          </p:nvSpPr>
          <p:spPr>
            <a:xfrm>
              <a:off x="0" y="0"/>
              <a:ext cx="1905000" cy="762000"/>
            </a:xfrm>
            <a:prstGeom prst="roundRect">
              <a:avLst>
                <a:gd fmla="val 12500" name="adj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1"/>
            </a:p>
          </p:txBody>
        </p:sp>
        <p:sp>
          <p:nvSpPr>
            <p:cNvPr id="210" name="Google Shape;210;p25"/>
            <p:cNvSpPr txBox="1"/>
            <p:nvPr/>
          </p:nvSpPr>
          <p:spPr>
            <a:xfrm>
              <a:off x="142875" y="95250"/>
              <a:ext cx="1619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405">
                  <a:solidFill>
                    <a:srgbClr val="FFFFFF"/>
                  </a:solidFill>
                  <a:latin typeface="Cabin SemiBold"/>
                  <a:ea typeface="Cabin SemiBold"/>
                  <a:cs typeface="Cabin SemiBold"/>
                  <a:sym typeface="Cabin SemiBold"/>
                </a:rPr>
                <a:t>Muchas gracias</a:t>
              </a:r>
              <a:endParaRPr sz="2405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endParaRPr>
            </a:p>
          </p:txBody>
        </p:sp>
      </p:grpSp>
      <p:sp>
        <p:nvSpPr>
          <p:cNvPr id="211" name="Google Shape;211;p25"/>
          <p:cNvSpPr/>
          <p:nvPr/>
        </p:nvSpPr>
        <p:spPr>
          <a:xfrm>
            <a:off x="571500" y="476250"/>
            <a:ext cx="381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809713" y="458552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© 2026 Cibertec | </a:t>
            </a:r>
            <a:r>
              <a:rPr lang="es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Mis Tareas</a:t>
            </a:r>
            <a:endParaRPr b="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3" name="Google Shape;21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425" y="0"/>
            <a:ext cx="2759100" cy="504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bujo con letras blancas&#10;&#10;El contenido generado por IA puede ser incorrecto." id="214" name="Google Shape;21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2775" y="0"/>
            <a:ext cx="1991226" cy="4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